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预算（万元）</c:v>
                </c:pt>
              </c:strCache>
            </c:strRef>
          </c:tx>
          <c:spPr>
            <a:solidFill>
              <a:srgbClr val="A9D6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4月净收入</c:v>
                  </c:pt>
                  <c:pt idx="1">
                    <c:v>4月毛利</c:v>
                  </c:pt>
                  <c:pt idx="2">
                    <c:v>4月销售费用</c:v>
                  </c:pt>
                  <c:pt idx="3">
                    <c:v>4月净利润</c:v>
                  </c:pt>
                  <c:pt idx="4">
                    <c:v>累计净收入</c:v>
                  </c:pt>
                  <c:pt idx="5">
                    <c:v>累计净利润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1629.5</c:v>
                </c:pt>
                <c:pt idx="1">
                  <c:v>248.2</c:v>
                </c:pt>
                <c:pt idx="2">
                  <c:v>114.9</c:v>
                </c:pt>
                <c:pt idx="3">
                  <c:v>113.4</c:v>
                </c:pt>
                <c:pt idx="4">
                  <c:v>6536.7</c:v>
                </c:pt>
                <c:pt idx="5">
                  <c:v>512.9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实际（万元）</c:v>
                </c:pt>
              </c:strCache>
            </c:strRef>
          </c:tx>
          <c:spPr>
            <a:solidFill>
              <a:srgbClr val="2867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4月净收入</c:v>
                  </c:pt>
                  <c:pt idx="1">
                    <c:v>4月毛利</c:v>
                  </c:pt>
                  <c:pt idx="2">
                    <c:v>4月销售费用</c:v>
                  </c:pt>
                  <c:pt idx="3">
                    <c:v>4月净利润</c:v>
                  </c:pt>
                  <c:pt idx="4">
                    <c:v>累计净收入</c:v>
                  </c:pt>
                  <c:pt idx="5">
                    <c:v>累计净利润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1791.4</c:v>
                </c:pt>
                <c:pt idx="1">
                  <c:v>-53.9</c:v>
                </c:pt>
                <c:pt idx="2">
                  <c:v>261.4</c:v>
                </c:pt>
                <c:pt idx="3">
                  <c:v>-335.2</c:v>
                </c:pt>
                <c:pt idx="4">
                  <c:v>8820.7</c:v>
                </c:pt>
                <c:pt idx="5">
                  <c:v>211.9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4月毛收入占比（%）</c:v>
                </c:pt>
              </c:strCache>
            </c:strRef>
          </c:tx>
          <c:spPr>
            <a:solidFill>
              <a:srgbClr val="2867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大客-KA</c:v>
                  </c:pt>
                  <c:pt idx="1">
                    <c:v>大客-餐饮</c:v>
                  </c:pt>
                  <c:pt idx="2">
                    <c:v>会员&amp;创新</c:v>
                  </c:pt>
                  <c:pt idx="3">
                    <c:v>大客-零食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</c:v>
                </c:pt>
                <c:pt idx="1">
                  <c:v>4.6</c:v>
                </c:pt>
                <c:pt idx="2">
                  <c:v>52.6</c:v>
                </c:pt>
                <c:pt idx="3">
                  <c:v>5.9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累计毛收入占比（%）</c:v>
                </c:pt>
              </c:strCache>
            </c:strRef>
          </c:tx>
          <c:spPr>
            <a:solidFill>
              <a:srgbClr val="A9D6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大客-KA</c:v>
                  </c:pt>
                  <c:pt idx="1">
                    <c:v>大客-餐饮</c:v>
                  </c:pt>
                  <c:pt idx="2">
                    <c:v>会员&amp;创新</c:v>
                  </c:pt>
                  <c:pt idx="3">
                    <c:v>大客-零食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28.7</c:v>
                </c:pt>
                <c:pt idx="1">
                  <c:v>2.6</c:v>
                </c:pt>
                <c:pt idx="2">
                  <c:v>43.8</c:v>
                </c:pt>
                <c:pt idx="3">
                  <c:v>24.9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4月毛利率（%）</c:v>
                </c:pt>
              </c:strCache>
            </c:strRef>
          </c:tx>
          <c:spPr>
            <a:solidFill>
              <a:srgbClr val="2867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大客-KA</c:v>
                  </c:pt>
                  <c:pt idx="1">
                    <c:v>大客-餐饮</c:v>
                  </c:pt>
                  <c:pt idx="2">
                    <c:v>会员&amp;创新</c:v>
                  </c:pt>
                  <c:pt idx="3">
                    <c:v>大客-零食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31.9</c:v>
                </c:pt>
                <c:pt idx="1">
                  <c:v>15.1</c:v>
                </c:pt>
                <c:pt idx="2">
                  <c:v>15.8</c:v>
                </c:pt>
                <c:pt idx="3">
                  <c:v>-39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累计毛利率（%）</c:v>
                </c:pt>
              </c:strCache>
            </c:strRef>
          </c:tx>
          <c:spPr>
            <a:solidFill>
              <a:srgbClr val="A9D6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大客-KA</c:v>
                  </c:pt>
                  <c:pt idx="1">
                    <c:v>大客-餐饮</c:v>
                  </c:pt>
                  <c:pt idx="2">
                    <c:v>会员&amp;创新</c:v>
                  </c:pt>
                  <c:pt idx="3">
                    <c:v>大客-零食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27.2</c:v>
                </c:pt>
                <c:pt idx="1">
                  <c:v>14.5</c:v>
                </c:pt>
                <c:pt idx="2">
                  <c:v>14</c:v>
                </c:pt>
                <c:pt idx="3">
                  <c:v>8.3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4月（万元）</c:v>
                </c:pt>
              </c:strCache>
            </c:strRef>
          </c:tx>
          <c:spPr>
            <a:solidFill>
              <a:srgbClr val="2867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职工薪酬</c:v>
                  </c:pt>
                  <c:pt idx="1">
                    <c:v>市场费用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45.1</c:v>
                </c:pt>
                <c:pt idx="1">
                  <c:v>216.3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累计（万元）</c:v>
                </c:pt>
              </c:strCache>
            </c:strRef>
          </c:tx>
          <c:spPr>
            <a:solidFill>
              <a:srgbClr val="A9D6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职工薪酬</c:v>
                  </c:pt>
                  <c:pt idx="1">
                    <c:v>市场费用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144.8</c:v>
                </c:pt>
                <c:pt idx="1">
                  <c:v>639.8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各位好，今天汇报大客中心2026年4月及累计经营表现。核心结论是：收入增长明显，但4月利润被合同扣点、零食业务负毛利和市场费用集中投放共同侵蚀；累计仍保持盈利，但利润完成度明显落后于收入完成度。
[Sources]
- 2026年度卓希线下经营管理报表Q1-大客中心7.20.xlsx，事业部利润表（4月及累计）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总体判断。累计净收入8,820.7万元，完成预算134.9%，但累计毛利率只有12.0%，较预算14.4%低2.4个百分点；累计净利润211.9万元，仅完成预算的41.3%。这说明新增收入没有按预算转化为利润。4月单月更严峻，毛利为负53.9万元，净亏损335.2万元。
[Sources]
- 2026年度卓希线下经营管理报表Q1-大客中心7.20.xlsx，事业部利润表（4月及累计）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预算与实际放在一起看。4月净收入比预算多161.9万元，但毛利比预算少302.1万元；销售直接费用比预算多146.5万元，最终净利润比预算少448.6万元。累计收入多2,284.0万元，净利润却少300.9万元，利润弹性显著弱于收入弹性。
[Sources]
- 2026年度卓希线下经营管理报表Q1-大客中心7.20.xlsx，事业部利润表（4月及累计）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入结构出现明显切换。4月会员与创新占毛收入52.6%，较累计结构高8.8个百分点；KA占37.0%，也高于累计。零食则从累计24.9%降到4月5.9%，单月规模显著收缩。需要特别关注合同扣点：4月达到378.7万元，占毛收入17.4%，使毛收入33.2%的超预算增长，最终只转化为净收入9.9%的增长。
[Sources]
- 2026年度卓希线下经营管理报表Q1-大客中心7.20.xlsx，事业部利润表（4月及累计）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毛利结构分化明显。KA是4月最主要的利润来源，毛利222.8万元、毛利率31.9%；会员与创新贡献136.8万元，毛利率15.8%；餐饮规模较小。零食单月收入127.5万元，却产生负毛利49.8万元，毛利率负39.0%，是4月整体毛利率跌到负3.0%的直接拖累项。累计看零食仍有8.3%毛利率，说明问题集中在4月，需要追溯具体订单、成本及促销政策。
[Sources]
- 2026年度卓希线下经营管理报表Q1-大客中心7.20.xlsx，事业部利润表（4月及累计）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销售费用是第二个核心矛盾。4月销售直接费用261.4万元，较预算多146.5万元；其中市场费用216.3万元，占销售费用82.7%，是主要增量。费用率从预算7.0%升到14.6%。累计市场费用639.8万元，占销售费用81.6%；累计销售费用率8.9%，比预算高3.3个百分点。建议从客户、项目和费用类型三个维度核算投放后毛利，而不是只看收入增量。
[Sources]
- 2026年度卓希线下经营管理报表Q1-大客中心7.20.xlsx，事业部利润表（4月及累计）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分三步推进。第一，七天内完成零食负毛利订单清单，明确价格、采购成本、物流和促销责任，低于底线毛利率的业务先止损。第二，三十天内把市场费用穿透到客户和活动，要求新增费用必须有可验证的增量毛利覆盖。第三，季度内优化收入结构，优先放大KA高毛利业务，同时重新审视会员与创新业务的合同扣点条款，并建立周度收入质量看板。
[Sources]
- 2026年度卓希线下经营管理报表Q1-大客中心7.20.xlsx，事业部利润表（4月及累计）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：大客中心的增长动能是清晰的，但4月已经出现规模与利润背离。下一阶段经营目标应从单纯追收入，切换到合同后净收入、毛利率和费用后利润三项指标联动管理。只要零食负毛利及时止损、市场费用效率恢复、合同扣点得到控制，累计利润仍有修复空间。
[Sources]
- 2026年度卓希线下经营管理报表Q1-大客中心7.20.xlsx，事业部利润表（4月及累计）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经营复盘｜2026年4月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11480" y="160020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大客中心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利润结构分析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11480" y="45720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 vs 实际｜累计预算 vs 累计实际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营业收入 · 毛利率 · 销售费用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收入超预算，但利润转化明显不足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累计净收入8,820.7万元，完成预算134.9%；但毛利率只有12.0%，净利润仅完成预算41.3%。当前重点应从规模增长切换到收入质量与费用效率。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86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134.9%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4343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累计净收入达成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8,820.7万元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288036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85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0" y="4343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累计实际毛利率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较预算低2.4pct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3880" y="288036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3D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41.3%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458200" y="43434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累计净利润达成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211.9万元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关键指标：4月利润转负，累计利润承压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63640" y="132588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4月净收入超预算9.9%，但成本超预算33.6%、销售直接费用超预算127.6%，导致净利润由预算盈利113.4万元转为亏损335.2万元。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3429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3429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3703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D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-448.6万元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92240" y="4617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4月净利润预算差额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0" y="3703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D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-300.9万元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0" y="4617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累计净利润预算差额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02920" y="1325880"/>
          <a:ext cx="53492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营业收入结构：会员增长最强，零食单月明显收缩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63640" y="132588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4月毛收入中，会员&amp;创新占52.6%，成为第一大来源；零食占比由累计24.9%降至5.9%。4月合同扣点378.7万元，占毛收入17.4%，显著压缩净收入增长。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3429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3429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3703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6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52.6%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92240" y="4617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4月会员&amp;创新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毛收入占比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0" y="3703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6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17.4%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0" y="4617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4月合同扣点/毛收入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02920" y="1325880"/>
          <a:ext cx="53492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毛利率结构：零食负毛利拖累，KA贡献主要利润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63640" y="132588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4月KA毛利率31.9%，贡献222.8万元毛利；会员&amp;创新15.8%，贡献136.8万元；零食毛利率-39.0%，单项亏损49.8万元，拉低整体毛利率。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3429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3429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3703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3D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-3.0%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92240" y="4617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4月整体实际毛利率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0" y="3703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6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0" y="4617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累计整体实际毛利率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02920" y="1325880"/>
          <a:ext cx="53492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销售费用结构：市场费用占八成，投入增速远超收入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63640" y="1325880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4月销售直接费用261.4万元，其中市场费用216.3万元，占82.7%；费用率14.6%，较预算7.0%高7.5pct。累计销售费用率8.9%，较预算高3.3pct。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3640" y="3429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34290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3703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6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127.6%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92240" y="4617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4月销售费用超预算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0" y="37033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86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114.4%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0" y="4617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累计销售费用超预算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02920" y="1325880"/>
          <a:ext cx="53492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三项动作优先恢复利润转化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147572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立即｜7天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788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86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止损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36576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逐单复盘零食负毛利；冻结低于底线毛利率的新增订单与促销。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短期｜30天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51460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788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86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控费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617720" y="36576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拆解市场费用到客户/活动；设置“增量毛利覆盖费用”准入标准。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75320" y="2514600"/>
            <a:ext cx="3474720" cy="2560320"/>
          </a:xfrm>
          <a:prstGeom prst="roundRect">
            <a:avLst>
              <a:gd name="adj" fmla="val 2857"/>
            </a:avLst>
          </a:prstGeom>
          <a:solidFill>
            <a:srgbClr val="F3F5F7"/>
          </a:solidFill>
          <a:ln w="12700">
            <a:solidFill>
              <a:srgbClr val="F3F5F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2788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86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调结构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549640" y="36576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扩大KA高毛利收入；优化会员扣点条款；建立周度收入质量看板。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11480" y="16459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规模已增长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利润要追回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11480" y="45720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守住零食毛利底线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压降市场费用率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提升合同后净收入质量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卓希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2026年4月大客中心利润结构分析及演讲稿</dc:title>
  <dc:subject>大客中心利润结构分析</dc:subject>
  <dc:creator>Codex</dc:creator>
  <cp:lastModifiedBy>Codex</cp:lastModifiedBy>
  <cp:revision>1</cp:revision>
  <dcterms:created xsi:type="dcterms:W3CDTF">2026-07-27T08:00:36Z</dcterms:created>
  <dcterms:modified xsi:type="dcterms:W3CDTF">2026-07-27T08:00:36Z</dcterms:modified>
</cp:coreProperties>
</file>